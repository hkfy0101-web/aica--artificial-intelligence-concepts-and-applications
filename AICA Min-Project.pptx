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3" r:id="rId5"/>
    <p:sldId id="264" r:id="rId6"/>
    <p:sldId id="265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7451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spc="300">
                <a:solidFill>
                  <a:srgbClr val="F2A541"/>
                </a:solidFill>
                <a:latin typeface="Arial"/>
              </a:rPr>
              <a:t>AICA MINI PROJECT</a:t>
            </a:r>
            <a:endParaRPr sz="160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Travel Recommendation System</a:t>
            </a:r>
            <a:endParaRPr sz="46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2200" b="0">
                <a:solidFill>
                  <a:srgbClr val="D5E8EC"/>
                </a:solidFill>
                <a:latin typeface="Arial"/>
              </a:rPr>
              <a:t>Name:-Jeshan Savani P.</a:t>
            </a:r>
            <a:endParaRPr sz="2200">
              <a:latin typeface="Arial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IN" sz="2200" b="0">
                <a:solidFill>
                  <a:srgbClr val="D5E8EC"/>
                </a:solidFill>
                <a:latin typeface="Arial"/>
              </a:rPr>
              <a:t>Enrollment No:-26D2DAI005</a:t>
            </a:r>
            <a:endParaRPr sz="2200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im panel"/>
          <p:cNvSpPr/>
          <p:nvPr/>
        </p:nvSpPr>
        <p:spPr>
          <a:xfrm>
            <a:off x="640080" y="1645920"/>
            <a:ext cx="10908792" cy="1280160"/>
          </a:xfrm>
          <a:prstGeom prst="roundRect">
            <a:avLst>
              <a:gd name="adj" fmla="val 10000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3400" b="1">
                <a:solidFill>
                  <a:srgbClr val="0B3C49"/>
                </a:solidFill>
                <a:latin typeface="Arial"/>
              </a:rPr>
              <a:t>1</a:t>
            </a:r>
            <a:r>
              <a:rPr sz="3400" b="1">
                <a:solidFill>
                  <a:srgbClr val="0B3C49"/>
                </a:solidFill>
                <a:latin typeface="Arial"/>
              </a:rPr>
              <a:t>. Aim and Objectives</a:t>
            </a:r>
            <a:endParaRPr sz="34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spc="60">
                <a:solidFill>
                  <a:srgbClr val="5B6B73"/>
                </a:solidFill>
                <a:latin typeface="Arial"/>
              </a:rPr>
              <a:t>AICA MINI PROJECT  |  TRAVEL RECOMMENDATION SYSTEM</a:t>
            </a:r>
            <a:endParaRPr sz="100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1000" dirty="0">
                <a:latin typeface="Arial"/>
              </a:rPr>
              <a:t>1</a:t>
            </a:r>
            <a:endParaRPr sz="10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77272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0B3C49"/>
                </a:solidFill>
                <a:latin typeface="Arial"/>
              </a:rPr>
              <a:t>Aim: Recommend destinations that match the user's preferred travel type.</a:t>
            </a:r>
            <a:endParaRPr sz="260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en-US" sz="2400" b="0">
                <a:solidFill>
                  <a:srgbClr val="1B2A33"/>
                </a:solidFill>
                <a:latin typeface="Arial"/>
              </a:rPr>
              <a:t>This project uses Prolog to recommend destinations based on a travel category chosen by the user. The program checks a small knowledge base and returns places that match the selected category.</a:t>
            </a:r>
            <a:endParaRPr sz="240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Query panel"/>
          <p:cNvSpPr/>
          <p:nvPr/>
        </p:nvSpPr>
        <p:spPr>
          <a:xfrm>
            <a:off x="6355080" y="1554480"/>
            <a:ext cx="5193792" cy="1188720"/>
          </a:xfrm>
          <a:prstGeom prst="roundRect">
            <a:avLst>
              <a:gd name="adj" fmla="val 10769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de panel"/>
          <p:cNvSpPr/>
          <p:nvPr/>
        </p:nvSpPr>
        <p:spPr>
          <a:xfrm>
            <a:off x="640080" y="1554480"/>
            <a:ext cx="5394960" cy="3520440"/>
          </a:xfrm>
          <a:prstGeom prst="roundRect">
            <a:avLst>
              <a:gd name="adj" fmla="val 3636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3400" b="1">
                <a:solidFill>
                  <a:srgbClr val="0B3C49"/>
                </a:solidFill>
                <a:latin typeface="Arial"/>
              </a:rPr>
              <a:t>2</a:t>
            </a:r>
            <a:r>
              <a:rPr sz="3400" b="1">
                <a:solidFill>
                  <a:srgbClr val="0B3C49"/>
                </a:solidFill>
                <a:latin typeface="Arial"/>
              </a:rPr>
              <a:t>. Prolog Code</a:t>
            </a:r>
            <a:endParaRPr sz="34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spc="60">
                <a:solidFill>
                  <a:srgbClr val="5B6B73"/>
                </a:solidFill>
                <a:latin typeface="Arial"/>
              </a:rPr>
              <a:t>AICA MINI PROJECT  |  TRAVEL RECOMMENDATION SYSTEM</a:t>
            </a:r>
            <a:endParaRPr sz="100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1000" dirty="0">
                <a:latin typeface="Arial"/>
              </a:rPr>
              <a:t>2</a:t>
            </a:r>
            <a:endParaRPr sz="1000"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663440" cy="31546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place(goa, beach).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place(diu, beach).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place(manali, mountains).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place(munnar, mountains).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place(jaipur, heritage).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place(udaipur, heritage).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endParaRPr sz="2000" dirty="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recommend(Type, Destination) :-</a:t>
            </a:r>
            <a:endParaRPr sz="2000">
              <a:latin typeface="Consolas"/>
            </a:endParaRPr>
          </a:p>
          <a:p>
            <a:pPr>
              <a:lnSpc>
                <a:spcPct val="110000"/>
              </a:lnSpc>
              <a:spcAft>
                <a:spcPts val="0"/>
              </a:spcAft>
              <a:defRPr sz="17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    place(Destination, Type).</a:t>
            </a:r>
            <a:endParaRPr sz="2000">
              <a:latin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2796F-700D-F4DC-FA85-037ED154CDF6}"/>
              </a:ext>
            </a:extLst>
          </p:cNvPr>
          <p:cNvSpPr txBox="1"/>
          <p:nvPr/>
        </p:nvSpPr>
        <p:spPr>
          <a:xfrm>
            <a:off x="6720840" y="1554480"/>
            <a:ext cx="4462272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7C8C"/>
                </a:solidFill>
                <a:latin typeface="Arial"/>
              </a:rPr>
              <a:t>Query</a:t>
            </a:r>
            <a:r>
              <a:rPr lang="en-US" sz="1800" b="1">
                <a:solidFill>
                  <a:srgbClr val="1C7C8C"/>
                </a:solidFill>
                <a:latin typeface="Arial"/>
              </a:rPr>
              <a:t>:-</a:t>
            </a:r>
            <a:endParaRPr sz="1800">
              <a:latin typeface="Consolas"/>
            </a:endParaRPr>
          </a:p>
          <a:p>
            <a:pPr>
              <a:spcAft>
                <a:spcPts val="400"/>
              </a:spcAft>
            </a:pPr>
            <a:r>
              <a:rPr lang="en-IN" sz="2000">
                <a:solidFill>
                  <a:srgbClr val="1B2A33"/>
                </a:solidFill>
                <a:latin typeface="Consolas"/>
              </a:rPr>
              <a:t>recommend(beach, Place).</a:t>
            </a:r>
            <a:endParaRPr sz="2000" dirty="0">
              <a:latin typeface="Consola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024D3-F063-A977-9939-F47150E6446E}"/>
              </a:ext>
            </a:extLst>
          </p:cNvPr>
          <p:cNvSpPr txBox="1"/>
          <p:nvPr/>
        </p:nvSpPr>
        <p:spPr>
          <a:xfrm>
            <a:off x="6355080" y="3017520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C7C8C"/>
                </a:solidFill>
                <a:latin typeface="Arial"/>
              </a:rPr>
              <a:t>Possible output</a:t>
            </a:r>
            <a:r>
              <a:rPr lang="en-US" sz="1800" b="1">
                <a:solidFill>
                  <a:srgbClr val="1C7C8C"/>
                </a:solidFill>
                <a:latin typeface="Arial"/>
              </a:rPr>
              <a:t>:-</a:t>
            </a:r>
            <a:endParaRPr sz="1800">
              <a:latin typeface="Arial"/>
            </a:endParaRPr>
          </a:p>
          <a:p>
            <a:pPr algn="l">
              <a:spcAft>
                <a:spcPts val="0"/>
              </a:spcAft>
            </a:pPr>
            <a:endParaRPr sz="1800" dirty="0">
              <a:latin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95964B-0535-5E20-50A1-752340A1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566160"/>
            <a:ext cx="5193792" cy="1482499"/>
          </a:xfrm>
          <a:prstGeom prst="rect">
            <a:avLst/>
          </a:prstGeom>
          <a:ln w="12700">
            <a:solidFill>
              <a:srgbClr val="CFE3E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ey points card"/>
          <p:cNvSpPr/>
          <p:nvPr/>
        </p:nvSpPr>
        <p:spPr>
          <a:xfrm>
            <a:off x="6062472" y="2834640"/>
            <a:ext cx="5486400" cy="2971800"/>
          </a:xfrm>
          <a:prstGeom prst="roundRect">
            <a:avLst>
              <a:gd name="adj" fmla="val 4307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ow it works card"/>
          <p:cNvSpPr/>
          <p:nvPr/>
        </p:nvSpPr>
        <p:spPr>
          <a:xfrm>
            <a:off x="640080" y="2834640"/>
            <a:ext cx="5120640" cy="2971800"/>
          </a:xfrm>
          <a:prstGeom prst="roundRect">
            <a:avLst>
              <a:gd name="adj" fmla="val 4307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3400" b="1">
                <a:solidFill>
                  <a:srgbClr val="0B3C49"/>
                </a:solidFill>
                <a:latin typeface="Arial"/>
              </a:rPr>
              <a:t>3</a:t>
            </a:r>
            <a:r>
              <a:rPr sz="3400" b="1">
                <a:solidFill>
                  <a:srgbClr val="0B3C49"/>
                </a:solidFill>
                <a:latin typeface="Arial"/>
              </a:rPr>
              <a:t>. Depth First Search (DFS)</a:t>
            </a:r>
            <a:endParaRPr sz="34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spc="60">
                <a:solidFill>
                  <a:srgbClr val="5B6B73"/>
                </a:solidFill>
                <a:latin typeface="Arial"/>
              </a:rPr>
              <a:t>AICA MINI PROJECT  |  TRAVEL RECOMMENDATION SYSTEM</a:t>
            </a:r>
            <a:endParaRPr sz="100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1000" dirty="0">
                <a:latin typeface="Arial"/>
              </a:rPr>
              <a:t>3</a:t>
            </a:r>
            <a:endParaRPr sz="10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08792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1B2A33"/>
                </a:solidFill>
                <a:latin typeface="Arial"/>
              </a:rPr>
              <a:t>Depth First Search explores one branch as far as possible before returning to try another branch. It is commonly implemented using recursion or a stack.</a:t>
            </a:r>
            <a:endParaRPr sz="220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C7C8C"/>
                </a:solidFill>
                <a:latin typeface="Arial"/>
              </a:rPr>
              <a:t>How it works</a:t>
            </a:r>
            <a:endParaRPr sz="220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AutoNum type="arabicPeriod"/>
            </a:pPr>
            <a:r>
              <a:rPr sz="1800" b="0">
                <a:solidFill>
                  <a:srgbClr val="1B2A33"/>
                </a:solidFill>
                <a:latin typeface="Arial"/>
              </a:rPr>
              <a:t>Start at the root node.</a:t>
            </a:r>
            <a:endParaRPr sz="1800">
              <a:latin typeface="Arial"/>
            </a:endParaRPr>
          </a:p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AutoNum type="arabicPeriod"/>
            </a:pPr>
            <a:r>
              <a:rPr sz="1800" b="0">
                <a:solidFill>
                  <a:srgbClr val="1B2A33"/>
                </a:solidFill>
                <a:latin typeface="Arial"/>
              </a:rPr>
              <a:t>Visit an unvisited child.</a:t>
            </a:r>
            <a:endParaRPr sz="1800">
              <a:latin typeface="Arial"/>
            </a:endParaRPr>
          </a:p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AutoNum type="arabicPeriod"/>
            </a:pPr>
            <a:r>
              <a:rPr sz="1800" b="0">
                <a:solidFill>
                  <a:srgbClr val="1B2A33"/>
                </a:solidFill>
                <a:latin typeface="Arial"/>
              </a:rPr>
              <a:t>Continue deeper until stuck.</a:t>
            </a:r>
            <a:endParaRPr sz="1800">
              <a:latin typeface="Arial"/>
            </a:endParaRPr>
          </a:p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AutoNum type="arabicPeriod"/>
            </a:pPr>
            <a:r>
              <a:rPr sz="1800" b="0">
                <a:solidFill>
                  <a:srgbClr val="1B2A33"/>
                </a:solidFill>
                <a:latin typeface="Arial"/>
              </a:rPr>
              <a:t>Backtrack and try another branch.</a:t>
            </a:r>
            <a:endParaRPr sz="180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28232" y="3108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C7C8C"/>
                </a:solidFill>
                <a:latin typeface="Arial"/>
              </a:rPr>
              <a:t>Key points</a:t>
            </a:r>
            <a:endParaRPr sz="220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8232" y="3749039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Char char="•"/>
            </a:pPr>
            <a:r>
              <a:rPr sz="1800" b="0">
                <a:solidFill>
                  <a:srgbClr val="1B2A33"/>
                </a:solidFill>
                <a:latin typeface="Arial"/>
              </a:rPr>
              <a:t>Uses a stack (LIFO) or recursion</a:t>
            </a:r>
            <a:endParaRPr sz="1800">
              <a:latin typeface="Arial"/>
            </a:endParaRPr>
          </a:p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Char char="•"/>
            </a:pPr>
            <a:r>
              <a:rPr sz="1800" b="0">
                <a:solidFill>
                  <a:srgbClr val="1B2A33"/>
                </a:solidFill>
                <a:latin typeface="Arial"/>
              </a:rPr>
              <a:t>Does not always find the shortest path</a:t>
            </a:r>
            <a:endParaRPr sz="1800">
              <a:latin typeface="Arial"/>
            </a:endParaRPr>
          </a:p>
          <a:p>
            <a:pPr marL="342900" indent="-342900" algn="l">
              <a:lnSpc>
                <a:spcPct val="120000"/>
              </a:lnSpc>
              <a:spcAft>
                <a:spcPts val="1000"/>
              </a:spcAft>
              <a:buClr>
                <a:srgbClr val="1C7C8C"/>
              </a:buClr>
              <a:buFont typeface="Arial"/>
              <a:buChar char="•"/>
            </a:pPr>
            <a:r>
              <a:rPr sz="1800" b="0">
                <a:solidFill>
                  <a:srgbClr val="1B2A33"/>
                </a:solidFill>
                <a:latin typeface="Arial"/>
              </a:rPr>
              <a:t>Useful for graph and maze traversal</a:t>
            </a:r>
            <a:endParaRPr sz="180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xample panel"/>
          <p:cNvSpPr/>
          <p:nvPr/>
        </p:nvSpPr>
        <p:spPr>
          <a:xfrm>
            <a:off x="640080" y="4343400"/>
            <a:ext cx="10908792" cy="1691640"/>
          </a:xfrm>
          <a:prstGeom prst="roundRect">
            <a:avLst>
              <a:gd name="adj" fmla="val 7567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3400" b="1">
                <a:solidFill>
                  <a:srgbClr val="0B3C49"/>
                </a:solidFill>
                <a:latin typeface="Arial"/>
              </a:rPr>
              <a:t>4</a:t>
            </a:r>
            <a:r>
              <a:rPr sz="3400" b="1">
                <a:solidFill>
                  <a:srgbClr val="0B3C49"/>
                </a:solidFill>
                <a:latin typeface="Arial"/>
              </a:rPr>
              <a:t>. DFS Diagram and Example</a:t>
            </a:r>
            <a:endParaRPr sz="34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spc="60">
                <a:solidFill>
                  <a:srgbClr val="5B6B73"/>
                </a:solidFill>
                <a:latin typeface="Arial"/>
              </a:rPr>
              <a:t>AICA MINI PROJECT  |  TRAVEL RECOMMENDATION SYSTEM</a:t>
            </a:r>
            <a:endParaRPr sz="100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1000" dirty="0">
                <a:latin typeface="Arial"/>
              </a:rPr>
              <a:t>4</a:t>
            </a:r>
            <a:endParaRPr sz="1000" dirty="0">
              <a:latin typeface="Arial"/>
            </a:endParaRPr>
          </a:p>
        </p:txBody>
      </p:sp>
      <p:cxnSp>
        <p:nvCxnSpPr>
          <p:cNvPr id="7" name="Connector 6"/>
          <p:cNvCxnSpPr/>
          <p:nvPr/>
        </p:nvCxnSpPr>
        <p:spPr>
          <a:xfrm flipH="1">
            <a:off x="4082796" y="1783080"/>
            <a:ext cx="2011680" cy="960120"/>
          </a:xfrm>
          <a:prstGeom prst="line">
            <a:avLst/>
          </a:prstGeom>
          <a:ln w="28575">
            <a:solidFill>
              <a:srgbClr val="8CA3A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6094476" y="1783080"/>
            <a:ext cx="2011680" cy="960120"/>
          </a:xfrm>
          <a:prstGeom prst="line">
            <a:avLst/>
          </a:prstGeom>
          <a:ln w="28575">
            <a:solidFill>
              <a:srgbClr val="8CA3AB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3076956" y="2743200"/>
            <a:ext cx="1005840" cy="960120"/>
          </a:xfrm>
          <a:prstGeom prst="line">
            <a:avLst/>
          </a:prstGeom>
          <a:ln w="28575">
            <a:solidFill>
              <a:srgbClr val="8CA3AB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082796" y="2743200"/>
            <a:ext cx="1005840" cy="960120"/>
          </a:xfrm>
          <a:prstGeom prst="line">
            <a:avLst/>
          </a:prstGeom>
          <a:ln w="28575">
            <a:solidFill>
              <a:srgbClr val="8CA3AB"/>
            </a:solidFill>
          </a:ln>
        </p:spPr>
      </p:cxnSp>
      <p:cxnSp>
        <p:nvCxnSpPr>
          <p:cNvPr id="11" name="Connector 10"/>
          <p:cNvCxnSpPr/>
          <p:nvPr/>
        </p:nvCxnSpPr>
        <p:spPr>
          <a:xfrm flipH="1">
            <a:off x="7100316" y="2743200"/>
            <a:ext cx="1005840" cy="960120"/>
          </a:xfrm>
          <a:prstGeom prst="line">
            <a:avLst/>
          </a:prstGeom>
          <a:ln w="28575">
            <a:solidFill>
              <a:srgbClr val="8CA3A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8106156" y="2743200"/>
            <a:ext cx="1005840" cy="960120"/>
          </a:xfrm>
          <a:prstGeom prst="line">
            <a:avLst/>
          </a:prstGeom>
          <a:ln w="28575">
            <a:solidFill>
              <a:srgbClr val="8CA3AB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820156" y="1508760"/>
            <a:ext cx="548640" cy="548640"/>
          </a:xfrm>
          <a:prstGeom prst="ellipse">
            <a:avLst/>
          </a:prstGeom>
          <a:solidFill>
            <a:srgbClr val="1C7C8C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20156" y="1508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</a:t>
            </a:r>
            <a:endParaRPr sz="1800">
              <a:latin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808476" y="2468880"/>
            <a:ext cx="548640" cy="548640"/>
          </a:xfrm>
          <a:prstGeom prst="ellipse">
            <a:avLst/>
          </a:prstGeom>
          <a:solidFill>
            <a:srgbClr val="1C7C8C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8476" y="2468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</a:t>
            </a:r>
            <a:endParaRPr sz="1800">
              <a:latin typeface="Arial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831836" y="2468880"/>
            <a:ext cx="548640" cy="548640"/>
          </a:xfrm>
          <a:prstGeom prst="ellipse">
            <a:avLst/>
          </a:prstGeom>
          <a:solidFill>
            <a:srgbClr val="DCEEF1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1836" y="2468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B3C49"/>
                </a:solidFill>
                <a:latin typeface="Arial"/>
              </a:rPr>
              <a:t>C</a:t>
            </a:r>
            <a:endParaRPr sz="1800">
              <a:latin typeface="Arial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2802636" y="3429000"/>
            <a:ext cx="548640" cy="548640"/>
          </a:xfrm>
          <a:prstGeom prst="ellipse">
            <a:avLst/>
          </a:prstGeom>
          <a:solidFill>
            <a:srgbClr val="1C7C8C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02636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D</a:t>
            </a:r>
            <a:endParaRPr sz="1800">
              <a:latin typeface="Arial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14316" y="3429000"/>
            <a:ext cx="548640" cy="548640"/>
          </a:xfrm>
          <a:prstGeom prst="ellipse">
            <a:avLst/>
          </a:prstGeom>
          <a:solidFill>
            <a:srgbClr val="1C7C8C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4316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</a:t>
            </a:r>
            <a:endParaRPr sz="1800">
              <a:latin typeface="Arial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25996" y="3429000"/>
            <a:ext cx="548640" cy="548640"/>
          </a:xfrm>
          <a:prstGeom prst="ellipse">
            <a:avLst/>
          </a:prstGeom>
          <a:solidFill>
            <a:srgbClr val="DCEEF1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25996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B3C49"/>
                </a:solidFill>
                <a:latin typeface="Arial"/>
              </a:rPr>
              <a:t>F</a:t>
            </a:r>
            <a:endParaRPr sz="1800">
              <a:latin typeface="Arial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837676" y="3429000"/>
            <a:ext cx="548640" cy="548640"/>
          </a:xfrm>
          <a:prstGeom prst="ellipse">
            <a:avLst/>
          </a:prstGeom>
          <a:solidFill>
            <a:srgbClr val="DCEEF1"/>
          </a:solidFill>
          <a:ln w="19050">
            <a:solidFill>
              <a:srgbClr val="1C7C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37676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B3C49"/>
                </a:solidFill>
                <a:latin typeface="Arial"/>
              </a:rPr>
              <a:t>G</a:t>
            </a:r>
            <a:endParaRPr sz="1800"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5840" y="4526280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3C49"/>
                </a:solidFill>
                <a:latin typeface="Arial"/>
              </a:rPr>
              <a:t>Example traversal: A → B → D → E → C → F → G</a:t>
            </a:r>
            <a:endParaRPr sz="240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" y="5074920"/>
            <a:ext cx="1017727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B2A33"/>
                </a:solidFill>
                <a:latin typeface="Arial"/>
              </a:rPr>
              <a:t>DFS goes down A–B–D first. D has no child, so it backtracks to B, visits E, then returns to A and explores C.</a:t>
            </a:r>
            <a:endParaRPr sz="200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sult card"/>
          <p:cNvSpPr/>
          <p:nvPr/>
        </p:nvSpPr>
        <p:spPr>
          <a:xfrm>
            <a:off x="8165592" y="1645920"/>
            <a:ext cx="3383280" cy="3291840"/>
          </a:xfrm>
          <a:prstGeom prst="roundRect">
            <a:avLst>
              <a:gd name="adj" fmla="val 3888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seudocode panel"/>
          <p:cNvSpPr/>
          <p:nvPr/>
        </p:nvSpPr>
        <p:spPr>
          <a:xfrm>
            <a:off x="640080" y="1645920"/>
            <a:ext cx="7223760" cy="3291840"/>
          </a:xfrm>
          <a:prstGeom prst="roundRect">
            <a:avLst>
              <a:gd name="adj" fmla="val 3888"/>
            </a:avLst>
          </a:prstGeom>
          <a:solidFill>
            <a:srgbClr val="E8F3F5"/>
          </a:solidFill>
          <a:ln w="12700">
            <a:solidFill>
              <a:srgbClr val="CFE3E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3400" b="1">
                <a:solidFill>
                  <a:srgbClr val="0B3C49"/>
                </a:solidFill>
                <a:latin typeface="Arial"/>
              </a:rPr>
              <a:t>5</a:t>
            </a:r>
            <a:r>
              <a:rPr sz="3400" b="1">
                <a:solidFill>
                  <a:srgbClr val="0B3C49"/>
                </a:solidFill>
                <a:latin typeface="Arial"/>
              </a:rPr>
              <a:t>. DFS Algorithm (Simple)</a:t>
            </a:r>
            <a:endParaRPr sz="34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spc="60">
                <a:solidFill>
                  <a:srgbClr val="5B6B73"/>
                </a:solidFill>
                <a:latin typeface="Arial"/>
              </a:rPr>
              <a:t>AICA MINI PROJECT  |  TRAVEL RECOMMENDATION SYSTEM</a:t>
            </a:r>
            <a:endParaRPr sz="100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1000" b="0" dirty="0">
                <a:solidFill>
                  <a:srgbClr val="5B6B73"/>
                </a:solidFill>
                <a:latin typeface="Arial"/>
              </a:rPr>
              <a:t>5</a:t>
            </a:r>
            <a:endParaRPr sz="1000"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6492240" cy="292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DFS(node):</a:t>
            </a:r>
            <a:endParaRPr sz="2000">
              <a:latin typeface="Consolas"/>
            </a:endParaRPr>
          </a:p>
          <a:p>
            <a:pPr>
              <a:lnSpc>
                <a:spcPct val="115000"/>
              </a:lnSpc>
              <a:spcAft>
                <a:spcPts val="0"/>
              </a:spcAft>
              <a:defRPr sz="18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    mark node as visited</a:t>
            </a:r>
            <a:endParaRPr sz="2000">
              <a:latin typeface="Consolas"/>
            </a:endParaRPr>
          </a:p>
          <a:p>
            <a:pPr>
              <a:lnSpc>
                <a:spcPct val="115000"/>
              </a:lnSpc>
              <a:spcAft>
                <a:spcPts val="0"/>
              </a:spcAft>
              <a:defRPr sz="18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    print node</a:t>
            </a:r>
            <a:endParaRPr sz="2000">
              <a:latin typeface="Consolas"/>
            </a:endParaRPr>
          </a:p>
          <a:p>
            <a:pPr>
              <a:lnSpc>
                <a:spcPct val="115000"/>
              </a:lnSpc>
              <a:spcAft>
                <a:spcPts val="0"/>
              </a:spcAft>
              <a:defRPr sz="1800">
                <a:solidFill>
                  <a:srgbClr val="2D3238"/>
                </a:solidFill>
                <a:latin typeface="Consolas"/>
              </a:defRPr>
            </a:pPr>
            <a:endParaRPr sz="2000">
              <a:latin typeface="Consolas"/>
            </a:endParaRPr>
          </a:p>
          <a:p>
            <a:pPr>
              <a:lnSpc>
                <a:spcPct val="115000"/>
              </a:lnSpc>
              <a:spcAft>
                <a:spcPts val="0"/>
              </a:spcAft>
              <a:defRPr sz="18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    for each unvisited neighbour of node:</a:t>
            </a:r>
            <a:endParaRPr sz="2000">
              <a:latin typeface="Consolas"/>
            </a:endParaRPr>
          </a:p>
          <a:p>
            <a:pPr>
              <a:lnSpc>
                <a:spcPct val="115000"/>
              </a:lnSpc>
              <a:spcAft>
                <a:spcPts val="0"/>
              </a:spcAft>
              <a:defRPr sz="1800">
                <a:solidFill>
                  <a:srgbClr val="2D3238"/>
                </a:solidFill>
                <a:latin typeface="Consolas"/>
              </a:defRPr>
            </a:pPr>
            <a:r>
              <a:rPr sz="2000">
                <a:solidFill>
                  <a:srgbClr val="1B2A33"/>
                </a:solidFill>
                <a:latin typeface="Consolas"/>
              </a:rPr>
              <a:t>        DFS(neighbour)</a:t>
            </a:r>
            <a:endParaRPr sz="2000"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31352" y="1965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C7C8C"/>
                </a:solidFill>
                <a:latin typeface="Arial"/>
              </a:rPr>
              <a:t>Example result</a:t>
            </a:r>
            <a:endParaRPr sz="220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31352" y="260604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1B2A33"/>
                </a:solidFill>
                <a:latin typeface="Arial"/>
              </a:rPr>
              <a:t>Starting at A and visiting left first:</a:t>
            </a:r>
            <a:endParaRPr sz="1800">
              <a:latin typeface="Arial"/>
            </a:endParaRP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2200" b="1">
                <a:solidFill>
                  <a:srgbClr val="0B3C49"/>
                </a:solidFill>
                <a:latin typeface="Arial"/>
              </a:rPr>
              <a:t>A, B, D, E, C, F, G</a:t>
            </a:r>
            <a:endParaRPr sz="220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3400" b="1">
                <a:solidFill>
                  <a:srgbClr val="FFFFFF"/>
                </a:solidFill>
                <a:latin typeface="Arial"/>
              </a:rPr>
              <a:t>6</a:t>
            </a:r>
            <a:r>
              <a:rPr sz="3400" b="1">
                <a:solidFill>
                  <a:srgbClr val="FFFFFF"/>
                </a:solidFill>
                <a:latin typeface="Arial"/>
              </a:rPr>
              <a:t>. Conclusion</a:t>
            </a:r>
            <a:endParaRPr sz="34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spc="60">
                <a:solidFill>
                  <a:srgbClr val="9FC3CB"/>
                </a:solidFill>
                <a:latin typeface="Arial"/>
              </a:rPr>
              <a:t>AICA MINI PROJECT  |  TRAVEL RECOMMENDATION SYSTEM</a:t>
            </a:r>
            <a:endParaRPr sz="100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1000" b="0" dirty="0">
                <a:solidFill>
                  <a:srgbClr val="9FC3CB"/>
                </a:solidFill>
                <a:latin typeface="Arial"/>
              </a:rPr>
              <a:t>6</a:t>
            </a:r>
            <a:endParaRPr sz="1000" dirty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969264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0">
                <a:solidFill>
                  <a:srgbClr val="D5E8EC"/>
                </a:solidFill>
                <a:latin typeface="Arial"/>
              </a:rPr>
              <a:t>This project shows how Prolog facts and rules can match a travel category with suitable destinations. The DFS section explains a separate AI search technique from the syllabus; it is not part of the current recommendation code.</a:t>
            </a:r>
            <a:endParaRPr sz="260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A541"/>
                </a:solidFill>
                <a:latin typeface="Arial"/>
              </a:rPr>
              <a:t>Thank you</a:t>
            </a:r>
            <a:endParaRPr sz="400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423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</cp:lastModifiedBy>
  <cp:revision>5</cp:revision>
  <dcterms:created xsi:type="dcterms:W3CDTF">2013-01-27T09:14:16Z</dcterms:created>
  <dcterms:modified xsi:type="dcterms:W3CDTF">2026-10-15T11:15:03Z</dcterms:modified>
  <cp:category/>
</cp:coreProperties>
</file>